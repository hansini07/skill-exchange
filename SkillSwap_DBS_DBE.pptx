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killSwap" id="{C765014D-94AD-E971-68AB-2E95B00FEA4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624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SkillSwap: a platform where students teach what they know and learn what they want.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have skills and also want new ones. Peer-to-peer swapping lets both sides gain. Example: one teaches Java, the other teaches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real-life problems students face when trying to exchange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options teach well, but none is built for mutual skill exchange.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 left to right, then explain the Java and SQL example of two-way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 that guide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modules. Ratings and credits are planned for a later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uses the frontend; the frontend calls backend APIs; the backend reads and writes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entities linked by primary and foreign keys. These show DBS concepts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working features. Right: planned features, not built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used across frontend, backend, database and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conclusion, then the future scope. Thank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35F"/>
                </a:solidFill>
              </a:rPr>
              <a:t>SkillSwap | DBS &amp; DBE Project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rgbClr val="2F5D3A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3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3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3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8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36.png"/><Relationship Id="rId10" Type="http://schemas.openxmlformats.org/officeDocument/2006/relationships/image" Target="../media/image16.png"/><Relationship Id="rId4" Type="http://schemas.openxmlformats.org/officeDocument/2006/relationships/image" Target="../media/image35.png"/><Relationship Id="rId9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3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2512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735F"/>
                </a:solidFill>
              </a:rPr>
              <a:t>KONERU LAKSHMAIAH EDUCATION FOUNDATION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2F5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Exchange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501822" y="235110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B3A2B"/>
                </a:solidFill>
              </a:rPr>
              <a:t>Student Skill Swapping System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63880" y="3188426"/>
            <a:ext cx="5262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2B3A2B"/>
                </a:solidFill>
              </a:rPr>
              <a:t>•  2520030095 -  </a:t>
            </a:r>
            <a:r>
              <a:rPr lang="en-US" sz="1400" dirty="0" err="1">
                <a:solidFill>
                  <a:srgbClr val="2B3A2B"/>
                </a:solidFill>
              </a:rPr>
              <a:t>Thipireddy</a:t>
            </a:r>
            <a:r>
              <a:rPr lang="en-US" sz="1400" dirty="0">
                <a:solidFill>
                  <a:srgbClr val="2B3A2B"/>
                </a:solidFill>
              </a:rPr>
              <a:t> Hansini  </a:t>
            </a:r>
          </a:p>
          <a:p>
            <a:r>
              <a:rPr lang="en-US" sz="1400" dirty="0">
                <a:solidFill>
                  <a:srgbClr val="2B3A2B"/>
                </a:solidFill>
              </a:rPr>
              <a:t>•  2520030110 -  </a:t>
            </a:r>
            <a:r>
              <a:rPr lang="en-US" sz="1400" dirty="0" err="1">
                <a:solidFill>
                  <a:srgbClr val="2B3A2B"/>
                </a:solidFill>
              </a:rPr>
              <a:t>Sakili</a:t>
            </a:r>
            <a:r>
              <a:rPr lang="en-US" sz="1400" dirty="0">
                <a:solidFill>
                  <a:srgbClr val="2B3A2B"/>
                </a:solidFill>
              </a:rPr>
              <a:t> Poojitha Reddy </a:t>
            </a:r>
          </a:p>
          <a:p>
            <a:r>
              <a:rPr lang="en-US" sz="1400" dirty="0">
                <a:solidFill>
                  <a:srgbClr val="2B3A2B"/>
                </a:solidFill>
              </a:rPr>
              <a:t>•  2520030193 -  Dheeraj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06389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35F"/>
                </a:solidFill>
              </a:rPr>
              <a:t>Guide: Dr. Y Subbarayudu, Assistant Professor, CSE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94960" y="1005840"/>
            <a:ext cx="3108960" cy="3108960"/>
          </a:xfrm>
          <a:prstGeom prst="ellipse">
            <a:avLst/>
          </a:prstGeom>
          <a:solidFill>
            <a:srgbClr val="CFE5B5"/>
          </a:solidFill>
          <a:ln w="12700">
            <a:solidFill>
              <a:srgbClr val="CFE5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141732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FaLaptop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3" y="1702613"/>
            <a:ext cx="618134" cy="61813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223760" y="242316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FaBookOp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053" y="2708453"/>
            <a:ext cx="618134" cy="6181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656832" y="2148840"/>
            <a:ext cx="566928" cy="566928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16" name="Image 2" descr="FaExchangeA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2895" y="2284903"/>
            <a:ext cx="294803" cy="2948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5D3A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325880"/>
            <a:ext cx="640080" cy="64008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5" name="Image 0" descr="FaUserGradu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1479499"/>
            <a:ext cx="332842" cy="33284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1280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3A2B"/>
                </a:solidFill>
              </a:rPr>
              <a:t>Every student has skills to share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57200" y="2377440"/>
            <a:ext cx="640080" cy="64008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8" name="Image 1" descr="FaBookOp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" y="2531059"/>
            <a:ext cx="332842" cy="33284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80160" y="2331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3A2B"/>
                </a:solidFill>
              </a:rPr>
              <a:t>Every student also wants to learn new skills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457200" y="3429000"/>
            <a:ext cx="640080" cy="64008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1" name="Image 2" descr="FaHandshak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19" y="3582619"/>
            <a:ext cx="332842" cy="33284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80160" y="3383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3A2B"/>
                </a:solidFill>
              </a:rPr>
              <a:t>Peer learning: teach one skill, learn another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4937760" y="128016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4" name="Text 8"/>
          <p:cNvSpPr txBox="1"/>
          <p:nvPr/>
        </p:nvSpPr>
        <p:spPr>
          <a:xfrm>
            <a:off x="51206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D3A"/>
                </a:solidFill>
              </a:rPr>
              <a:t>Peer-to-peer exchange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5486400" y="1874520"/>
            <a:ext cx="731520" cy="73152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6" name="Image 3" descr="FaUs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1965" y="2050085"/>
            <a:ext cx="380390" cy="38039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7406640" y="1874520"/>
            <a:ext cx="731520" cy="73152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8" name="Image 4" descr="FaUs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2205" y="2050085"/>
            <a:ext cx="380390" cy="380390"/>
          </a:xfrm>
          <a:prstGeom prst="rect">
            <a:avLst/>
          </a:prstGeom>
        </p:spPr>
      </p:pic>
      <p:pic>
        <p:nvPicPr>
          <p:cNvPr id="19" name="Image 5" descr="FaExchangeAl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2057400"/>
            <a:ext cx="411480" cy="41148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507492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A2B"/>
                </a:solidFill>
              </a:rPr>
              <a:t>Student A</a:t>
            </a:r>
            <a:endParaRPr lang="en-US" sz="1400" dirty="0"/>
          </a:p>
        </p:txBody>
      </p:sp>
      <p:sp>
        <p:nvSpPr>
          <p:cNvPr id="21" name="Text 12"/>
          <p:cNvSpPr txBox="1"/>
          <p:nvPr/>
        </p:nvSpPr>
        <p:spPr>
          <a:xfrm>
            <a:off x="699516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A2B"/>
                </a:solidFill>
              </a:rPr>
              <a:t>Student B</a:t>
            </a:r>
            <a:endParaRPr lang="en-US" sz="1400" dirty="0"/>
          </a:p>
        </p:txBody>
      </p:sp>
      <p:sp>
        <p:nvSpPr>
          <p:cNvPr id="22" name="Shape 13"/>
          <p:cNvSpPr/>
          <p:nvPr/>
        </p:nvSpPr>
        <p:spPr>
          <a:xfrm>
            <a:off x="5074920" y="3108960"/>
            <a:ext cx="1554480" cy="365760"/>
          </a:xfrm>
          <a:prstGeom prst="roundRect">
            <a:avLst>
              <a:gd name="adj" fmla="val 37500"/>
            </a:avLst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507492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3A"/>
                </a:solidFill>
              </a:rPr>
              <a:t>Teaches Java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5074920" y="3566160"/>
            <a:ext cx="1554480" cy="365760"/>
          </a:xfrm>
          <a:prstGeom prst="roundRect">
            <a:avLst>
              <a:gd name="adj" fmla="val 37500"/>
            </a:avLst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507492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Learns SQL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6995160" y="3108960"/>
            <a:ext cx="1554480" cy="365760"/>
          </a:xfrm>
          <a:prstGeom prst="roundRect">
            <a:avLst>
              <a:gd name="adj" fmla="val 37500"/>
            </a:avLst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699516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3A"/>
                </a:solidFill>
              </a:rPr>
              <a:t>Teaches SQL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6995160" y="3566160"/>
            <a:ext cx="1554480" cy="365760"/>
          </a:xfrm>
          <a:prstGeom prst="roundRect">
            <a:avLst>
              <a:gd name="adj" fmla="val 37500"/>
            </a:avLst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6995160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Learns Java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3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5D3A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6" name="Image 0" descr="FaSear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154899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Hard to find the right learning partner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2344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474720" y="141732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0" name="Image 1" descr="FaLongArrowAltRigh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394" y="154899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47472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One-way learning on many platforms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126480" y="123444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309360" y="141732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4" name="Image 2" descr="FaPuzzlePie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034" y="1548994"/>
            <a:ext cx="285293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30936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Hard to match complementary skills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57200" y="288036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8" name="Image 3" descr="FaClo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54" y="3194914"/>
            <a:ext cx="285293" cy="28529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4008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Different availability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3291840" y="288036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3474720" y="306324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22" name="Image 4" descr="FaUserShiel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6394" y="3194914"/>
            <a:ext cx="285293" cy="285293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47472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Hard to identify reliable partners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6126480" y="288036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309360" y="306324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26" name="Image 5" descr="FaClipboardLis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034" y="3194914"/>
            <a:ext cx="285293" cy="285293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30936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No organized skill-swapping process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3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5D3A"/>
                </a:solidFill>
              </a:rPr>
              <a:t>Existing System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6" name="Image 0" descr="FaGraduationC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" y="161665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D3A"/>
                </a:solidFill>
              </a:rPr>
              <a:t>Online Courses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Mostly one-way; no learning partner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291840" y="12801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474720" y="1463040"/>
            <a:ext cx="640080" cy="64008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1" name="Image 1" descr="FaPlayCirc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8339" y="161665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D3A"/>
                </a:solidFill>
              </a:rPr>
              <a:t>Tutorials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47472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Passive learning; little interaction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126480" y="128016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309360" y="1463040"/>
            <a:ext cx="640080" cy="64008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6" name="Image 2" descr="FaGlob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979" y="161665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30936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D3A"/>
                </a:solidFill>
              </a:rPr>
              <a:t>General Platforms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30936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Not built for skill-to-skill matching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37490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20" name="Image 3" descr="FaExclamationCirc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3192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34440" y="3749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D3A"/>
                </a:solidFill>
              </a:rPr>
              <a:t>Gap: no structured way to find mutually beneficial skill-exchange partners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3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5D3A"/>
                </a:solidFill>
              </a:rPr>
              <a:t>Proposed Solution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365760" y="1097280"/>
            <a:ext cx="1005840" cy="13258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207008"/>
            <a:ext cx="457200" cy="45720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6" name="Image 0" descr="FaUserPlu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16736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11480" y="17373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A2B"/>
                </a:solidFill>
              </a:rPr>
              <a:t>Registration</a:t>
            </a:r>
            <a:endParaRPr lang="en-US" sz="1100" dirty="0"/>
          </a:p>
        </p:txBody>
      </p:sp>
      <p:pic>
        <p:nvPicPr>
          <p:cNvPr id="8" name="Image 1" descr="FaChevronRigh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176" y="1691640"/>
            <a:ext cx="182880" cy="182880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1600200" y="1097280"/>
            <a:ext cx="1005840" cy="13258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1874520" y="1207008"/>
            <a:ext cx="457200" cy="45720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1" name="Image 2" descr="FaIdC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248" y="1316736"/>
            <a:ext cx="237744" cy="2377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645920" y="17373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A2B"/>
                </a:solidFill>
              </a:rPr>
              <a:t>Skill Profile</a:t>
            </a:r>
            <a:endParaRPr lang="en-US" sz="1100" dirty="0"/>
          </a:p>
        </p:txBody>
      </p:sp>
      <p:pic>
        <p:nvPicPr>
          <p:cNvPr id="13" name="Image 3" descr="FaChevronRigh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616" y="1691640"/>
            <a:ext cx="182880" cy="182880"/>
          </a:xfrm>
          <a:prstGeom prst="rect">
            <a:avLst/>
          </a:prstGeom>
        </p:spPr>
      </p:pic>
      <p:sp>
        <p:nvSpPr>
          <p:cNvPr id="14" name="card"/>
          <p:cNvSpPr/>
          <p:nvPr/>
        </p:nvSpPr>
        <p:spPr>
          <a:xfrm>
            <a:off x="2834640" y="1097280"/>
            <a:ext cx="1005840" cy="13258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5" name="Shape 8"/>
          <p:cNvSpPr/>
          <p:nvPr/>
        </p:nvSpPr>
        <p:spPr>
          <a:xfrm>
            <a:off x="3108960" y="1207008"/>
            <a:ext cx="457200" cy="45720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6" name="Image 4" descr="FaListU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1316736"/>
            <a:ext cx="237744" cy="237744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2880360" y="17373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A2B"/>
                </a:solidFill>
              </a:rPr>
              <a:t>Teach + Learn Skills</a:t>
            </a:r>
            <a:endParaRPr lang="en-US" sz="1100" dirty="0"/>
          </a:p>
        </p:txBody>
      </p:sp>
      <p:pic>
        <p:nvPicPr>
          <p:cNvPr id="18" name="Image 5" descr="FaChevronRigh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7056" y="1691640"/>
            <a:ext cx="182880" cy="182880"/>
          </a:xfrm>
          <a:prstGeom prst="rect">
            <a:avLst/>
          </a:prstGeom>
        </p:spPr>
      </p:pic>
      <p:sp>
        <p:nvSpPr>
          <p:cNvPr id="19" name="card"/>
          <p:cNvSpPr/>
          <p:nvPr/>
        </p:nvSpPr>
        <p:spPr>
          <a:xfrm>
            <a:off x="4069080" y="1097280"/>
            <a:ext cx="1005840" cy="13258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20" name="Shape 11"/>
          <p:cNvSpPr/>
          <p:nvPr/>
        </p:nvSpPr>
        <p:spPr>
          <a:xfrm>
            <a:off x="4343400" y="1207008"/>
            <a:ext cx="457200" cy="45720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21" name="Image 6" descr="FaSearch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3128" y="1316736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4114800" y="17373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A2B"/>
                </a:solidFill>
              </a:rPr>
              <a:t>Skill Matching</a:t>
            </a:r>
            <a:endParaRPr lang="en-US" sz="1100" dirty="0"/>
          </a:p>
        </p:txBody>
      </p:sp>
      <p:pic>
        <p:nvPicPr>
          <p:cNvPr id="23" name="Image 7" descr="FaChevronRigh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1691640"/>
            <a:ext cx="182880" cy="182880"/>
          </a:xfrm>
          <a:prstGeom prst="rect">
            <a:avLst/>
          </a:prstGeom>
        </p:spPr>
      </p:pic>
      <p:sp>
        <p:nvSpPr>
          <p:cNvPr id="24" name="card"/>
          <p:cNvSpPr/>
          <p:nvPr/>
        </p:nvSpPr>
        <p:spPr>
          <a:xfrm>
            <a:off x="5303520" y="1097280"/>
            <a:ext cx="1005840" cy="13258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25" name="Shape 14"/>
          <p:cNvSpPr/>
          <p:nvPr/>
        </p:nvSpPr>
        <p:spPr>
          <a:xfrm>
            <a:off x="5577840" y="1207008"/>
            <a:ext cx="457200" cy="45720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26" name="Image 8" descr="FaPaperPla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7568" y="1316736"/>
            <a:ext cx="237744" cy="237744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5349240" y="17373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A2B"/>
                </a:solidFill>
              </a:rPr>
              <a:t>Swap Request</a:t>
            </a:r>
            <a:endParaRPr lang="en-US" sz="1100" dirty="0"/>
          </a:p>
        </p:txBody>
      </p:sp>
      <p:pic>
        <p:nvPicPr>
          <p:cNvPr id="28" name="Image 9" descr="FaChevronRigh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691640"/>
            <a:ext cx="182880" cy="182880"/>
          </a:xfrm>
          <a:prstGeom prst="rect">
            <a:avLst/>
          </a:prstGeom>
        </p:spPr>
      </p:pic>
      <p:sp>
        <p:nvSpPr>
          <p:cNvPr id="29" name="card"/>
          <p:cNvSpPr/>
          <p:nvPr/>
        </p:nvSpPr>
        <p:spPr>
          <a:xfrm>
            <a:off x="6537960" y="1097280"/>
            <a:ext cx="1005840" cy="13258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30" name="Shape 17"/>
          <p:cNvSpPr/>
          <p:nvPr/>
        </p:nvSpPr>
        <p:spPr>
          <a:xfrm>
            <a:off x="6812280" y="1207008"/>
            <a:ext cx="457200" cy="45720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31" name="Image 10" descr="FaVide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2008" y="1316736"/>
            <a:ext cx="237744" cy="237744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6583680" y="17373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A2B"/>
                </a:solidFill>
              </a:rPr>
              <a:t>Session</a:t>
            </a:r>
            <a:endParaRPr lang="en-US" sz="1100" dirty="0"/>
          </a:p>
        </p:txBody>
      </p:sp>
      <p:pic>
        <p:nvPicPr>
          <p:cNvPr id="33" name="Image 11" descr="FaChevronRigh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1691640"/>
            <a:ext cx="182880" cy="182880"/>
          </a:xfrm>
          <a:prstGeom prst="rect">
            <a:avLst/>
          </a:prstGeom>
        </p:spPr>
      </p:pic>
      <p:sp>
        <p:nvSpPr>
          <p:cNvPr id="34" name="card"/>
          <p:cNvSpPr/>
          <p:nvPr/>
        </p:nvSpPr>
        <p:spPr>
          <a:xfrm>
            <a:off x="7772400" y="1097280"/>
            <a:ext cx="1005840" cy="13258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35" name="Shape 20"/>
          <p:cNvSpPr/>
          <p:nvPr/>
        </p:nvSpPr>
        <p:spPr>
          <a:xfrm>
            <a:off x="8046720" y="1207008"/>
            <a:ext cx="457200" cy="45720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36" name="Image 12" descr="FaSta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6448" y="1316736"/>
            <a:ext cx="237744" cy="237744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7818120" y="17373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3A2B"/>
                </a:solidFill>
              </a:rPr>
              <a:t>Rating / Credits</a:t>
            </a:r>
            <a:endParaRPr lang="en-US" sz="1100" dirty="0"/>
          </a:p>
        </p:txBody>
      </p:sp>
      <p:sp>
        <p:nvSpPr>
          <p:cNvPr id="38" name="Text 22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D3A"/>
                </a:solidFill>
              </a:rPr>
              <a:t>Two-way learning: Java ⇄ SQL</a:t>
            </a:r>
            <a:endParaRPr lang="en-US" sz="1700" dirty="0"/>
          </a:p>
        </p:txBody>
      </p:sp>
      <p:sp>
        <p:nvSpPr>
          <p:cNvPr id="39" name="card"/>
          <p:cNvSpPr/>
          <p:nvPr/>
        </p:nvSpPr>
        <p:spPr>
          <a:xfrm>
            <a:off x="457200" y="306324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40" name="Text 24"/>
          <p:cNvSpPr txBox="1"/>
          <p:nvPr/>
        </p:nvSpPr>
        <p:spPr>
          <a:xfrm>
            <a:off x="822960" y="3200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D3A"/>
                </a:solidFill>
              </a:rPr>
              <a:t>Student 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3A2B"/>
                </a:solidFill>
              </a:rPr>
              <a:t>Teaches Java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3A2B"/>
                </a:solidFill>
              </a:rPr>
              <a:t>Wants to learn SQL</a:t>
            </a:r>
            <a:endParaRPr lang="en-US" sz="1500" dirty="0"/>
          </a:p>
        </p:txBody>
      </p:sp>
      <p:sp>
        <p:nvSpPr>
          <p:cNvPr id="41" name="Text 25"/>
          <p:cNvSpPr txBox="1"/>
          <p:nvPr/>
        </p:nvSpPr>
        <p:spPr>
          <a:xfrm>
            <a:off x="5577840" y="32004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D3A"/>
                </a:solidFill>
              </a:rPr>
              <a:t>Student B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3A2B"/>
                </a:solidFill>
              </a:rPr>
              <a:t>Teaches SQL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B3A2B"/>
                </a:solidFill>
              </a:rPr>
              <a:t>Wants to learn Java</a:t>
            </a:r>
            <a:endParaRPr lang="en-US" sz="1500" dirty="0"/>
          </a:p>
        </p:txBody>
      </p:sp>
      <p:sp>
        <p:nvSpPr>
          <p:cNvPr id="42" name="Shape 26"/>
          <p:cNvSpPr/>
          <p:nvPr/>
        </p:nvSpPr>
        <p:spPr>
          <a:xfrm>
            <a:off x="4114800" y="3429000"/>
            <a:ext cx="822960" cy="822960"/>
          </a:xfrm>
          <a:prstGeom prst="ellipse">
            <a:avLst/>
          </a:prstGeom>
          <a:solidFill>
            <a:srgbClr val="2F5D3A"/>
          </a:solidFill>
          <a:ln w="12700">
            <a:solidFill>
              <a:srgbClr val="2F5D3A"/>
            </a:solidFill>
            <a:prstDash val="solid"/>
          </a:ln>
        </p:spPr>
      </p:sp>
      <p:pic>
        <p:nvPicPr>
          <p:cNvPr id="43" name="Image 13" descr="FaExchangeAl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12310" y="3626510"/>
            <a:ext cx="427939" cy="427939"/>
          </a:xfrm>
          <a:prstGeom prst="rect">
            <a:avLst/>
          </a:prstGeom>
        </p:spPr>
      </p:pic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3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5D3A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6" name="Image 0" descr="FaUs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150327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3A2B"/>
                </a:solidFill>
              </a:rPr>
              <a:t>Connect students for skill exchange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0" name="Image 1" descr="FaUserFriend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994" y="1503274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57784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3A2B"/>
                </a:solidFill>
              </a:rPr>
              <a:t>Find suitable learning partners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457200" y="2286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4" name="Image 2" descr="FaBullsey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2600554"/>
            <a:ext cx="285293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71600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3A2B"/>
                </a:solidFill>
              </a:rPr>
              <a:t>Match based on skills and availability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4663440" y="2286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846320" y="246888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8" name="Image 3" descr="FaTask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994" y="2600554"/>
            <a:ext cx="285293" cy="28529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577840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3A2B"/>
                </a:solidFill>
              </a:rPr>
              <a:t>Manage swap requests and sessions</a:t>
            </a:r>
            <a:endParaRPr lang="en-US" sz="1500" dirty="0"/>
          </a:p>
        </p:txBody>
      </p:sp>
      <p:sp>
        <p:nvSpPr>
          <p:cNvPr id="20" name="card"/>
          <p:cNvSpPr/>
          <p:nvPr/>
        </p:nvSpPr>
        <p:spPr>
          <a:xfrm>
            <a:off x="457200" y="3383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22" name="Image 4" descr="FaShieldAl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754" y="3697834"/>
            <a:ext cx="285293" cy="285293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371600" y="3383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3A2B"/>
                </a:solidFill>
              </a:rPr>
              <a:t>Improve trust through ratings / verification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4663440" y="3383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4846320" y="356616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26" name="Image 5" descr="FaLightbulb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7994" y="3697834"/>
            <a:ext cx="285293" cy="285293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577840" y="3383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3A2B"/>
                </a:solidFill>
              </a:rPr>
              <a:t>Encourage knowledge sharing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3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5D3A"/>
                </a:solidFill>
              </a:rPr>
              <a:t>Modules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6" name="Image 0" descr="FaUserCo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150327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468880" y="13258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A8CF8E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D3A"/>
                </a:solidFill>
              </a:rPr>
              <a:t>User Management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35F"/>
                </a:solidFill>
              </a:rPr>
              <a:t>Register, login, profile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329184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74720" y="137160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2" name="Image 1" descr="FaTool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394" y="150327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03520" y="13258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A8CF8E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347472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D3A"/>
                </a:solidFill>
              </a:rPr>
              <a:t>Skill Management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47472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35F"/>
                </a:solidFill>
              </a:rPr>
              <a:t>Skills to teach and learn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6126480" y="118872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309360" y="137160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8" name="Image 2" descr="FaSearc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034" y="150327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138160" y="13258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A8CF8E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30936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D3A"/>
                </a:solidFill>
              </a:rPr>
              <a:t>Skill Matching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309360" y="2286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35F"/>
                </a:solidFill>
              </a:rPr>
              <a:t>Find compatible partners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457200" y="29260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24" name="Image 3" descr="FaExchangeA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54" y="3240634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2468880" y="3063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A8CF8E"/>
                </a:solidFill>
              </a:rPr>
              <a:t>4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640080" y="3703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D3A"/>
                </a:solidFill>
              </a:rPr>
              <a:t>Swap Request Management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35F"/>
                </a:solidFill>
              </a:rPr>
              <a:t>Send and respond to requests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3291840" y="29260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474720" y="310896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30" name="Image 4" descr="FaCalendarAl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6394" y="324063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303520" y="3063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A8CF8E"/>
                </a:solidFill>
              </a:rPr>
              <a:t>5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3474720" y="3703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D3A"/>
                </a:solidFill>
              </a:rPr>
              <a:t>Session &amp; Availability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3474720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35F"/>
                </a:solidFill>
              </a:rPr>
              <a:t>Time slots and sessions</a:t>
            </a:r>
            <a:endParaRPr lang="en-US" sz="1200" dirty="0"/>
          </a:p>
        </p:txBody>
      </p:sp>
      <p:sp>
        <p:nvSpPr>
          <p:cNvPr id="34" name="card"/>
          <p:cNvSpPr/>
          <p:nvPr/>
        </p:nvSpPr>
        <p:spPr>
          <a:xfrm>
            <a:off x="6126480" y="29260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09360" y="310896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36" name="Image 5" descr="FaSta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034" y="3240634"/>
            <a:ext cx="285293" cy="28529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138160" y="306324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A8CF8E"/>
                </a:solidFill>
              </a:rPr>
              <a:t>6</a:t>
            </a:r>
            <a:endParaRPr lang="en-US" sz="2000" dirty="0"/>
          </a:p>
        </p:txBody>
      </p:sp>
      <p:sp>
        <p:nvSpPr>
          <p:cNvPr id="38" name="Text 29"/>
          <p:cNvSpPr txBox="1"/>
          <p:nvPr/>
        </p:nvSpPr>
        <p:spPr>
          <a:xfrm>
            <a:off x="6309360" y="3703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5D3A"/>
                </a:solidFill>
              </a:rPr>
              <a:t>Rating &amp; Skill Credit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6309360" y="4023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35F"/>
                </a:solidFill>
              </a:rPr>
              <a:t>Feedback and credits (planned)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3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5D3A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EEF5E3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128016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6" name="Image 0" descr="FaUserGradu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794" y="141183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5D3A"/>
                </a:solidFill>
              </a:rPr>
              <a:t>Student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2176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35F"/>
                </a:solidFill>
              </a:rPr>
              <a:t>User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457200" y="34290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EEF5E3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48640" y="3474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A2B"/>
                </a:solidFill>
              </a:rPr>
              <a:t>Registers, adds skills, sends swap requests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2681935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184855" y="128016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3" name="Image 1" descr="FaLaptopC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6529" y="141183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681935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5D3A"/>
                </a:solidFill>
              </a:rPr>
              <a:t>Frontend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2681935" y="2176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35F"/>
                </a:solidFill>
              </a:rPr>
              <a:t>HTML, CSS, JavaScript</a:t>
            </a:r>
            <a:endParaRPr lang="en-US" sz="1100" dirty="0"/>
          </a:p>
        </p:txBody>
      </p:sp>
      <p:sp>
        <p:nvSpPr>
          <p:cNvPr id="16" name="card"/>
          <p:cNvSpPr/>
          <p:nvPr/>
        </p:nvSpPr>
        <p:spPr>
          <a:xfrm>
            <a:off x="2681935" y="34290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EEF5E3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2773375" y="3474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A2B"/>
                </a:solidFill>
              </a:rPr>
              <a:t>Forms, pages and dashboard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907585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10505" y="128016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20" name="Image 2" descr="FaServ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2178" y="141183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907585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5D3A"/>
                </a:solidFill>
              </a:rPr>
              <a:t>Backend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907585" y="2176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35F"/>
                </a:solidFill>
              </a:rPr>
              <a:t>Node.js + Express.js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4907585" y="34290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EEF5E3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24" name="Text 18"/>
          <p:cNvSpPr txBox="1"/>
          <p:nvPr/>
        </p:nvSpPr>
        <p:spPr>
          <a:xfrm>
            <a:off x="4999025" y="3474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A2B"/>
                </a:solidFill>
              </a:rPr>
              <a:t>Routes, validation, matching logic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7132320" y="1188720"/>
            <a:ext cx="1554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635240" y="128016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27" name="Image 3" descr="FaDataba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914" y="141183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13232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5D3A"/>
                </a:solidFill>
              </a:rPr>
              <a:t>Database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7132320" y="2176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35F"/>
                </a:solidFill>
              </a:rPr>
              <a:t>MySQL</a:t>
            </a:r>
            <a:endParaRPr lang="en-US" sz="1100" dirty="0"/>
          </a:p>
        </p:txBody>
      </p:sp>
      <p:sp>
        <p:nvSpPr>
          <p:cNvPr id="30" name="card"/>
          <p:cNvSpPr/>
          <p:nvPr/>
        </p:nvSpPr>
        <p:spPr>
          <a:xfrm>
            <a:off x="7132320" y="34290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EEF5E3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31" name="Text 24"/>
          <p:cNvSpPr txBox="1"/>
          <p:nvPr/>
        </p:nvSpPr>
        <p:spPr>
          <a:xfrm>
            <a:off x="7223760" y="347472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A2B"/>
                </a:solidFill>
              </a:rPr>
              <a:t>Users, skills, requests, sessions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2011680" y="1874520"/>
            <a:ext cx="670255" cy="0"/>
          </a:xfrm>
          <a:prstGeom prst="line">
            <a:avLst/>
          </a:prstGeom>
          <a:noFill/>
          <a:ln w="22225">
            <a:solidFill>
              <a:srgbClr val="6FA35B"/>
            </a:solidFill>
            <a:prstDash val="solid"/>
            <a:headEnd type="triangle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4236415" y="1737360"/>
            <a:ext cx="671170" cy="0"/>
          </a:xfrm>
          <a:prstGeom prst="line">
            <a:avLst/>
          </a:prstGeom>
          <a:noFill/>
          <a:ln w="22225">
            <a:solidFill>
              <a:srgbClr val="6FA35B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 flipH="1">
            <a:off x="4236415" y="2057400"/>
            <a:ext cx="671170" cy="0"/>
          </a:xfrm>
          <a:prstGeom prst="line">
            <a:avLst/>
          </a:prstGeom>
          <a:noFill/>
          <a:ln w="22225">
            <a:solidFill>
              <a:srgbClr val="6FA35B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6462065" y="1737360"/>
            <a:ext cx="670255" cy="0"/>
          </a:xfrm>
          <a:prstGeom prst="line">
            <a:avLst/>
          </a:prstGeom>
          <a:noFill/>
          <a:ln w="22225">
            <a:solidFill>
              <a:srgbClr val="6FA35B"/>
            </a:solidFill>
            <a:prstDash val="solid"/>
            <a:tailEnd type="triangle"/>
          </a:ln>
        </p:spPr>
      </p:sp>
      <p:sp>
        <p:nvSpPr>
          <p:cNvPr id="36" name="Shape 29"/>
          <p:cNvSpPr/>
          <p:nvPr/>
        </p:nvSpPr>
        <p:spPr>
          <a:xfrm flipH="1">
            <a:off x="6462065" y="2057400"/>
            <a:ext cx="670255" cy="0"/>
          </a:xfrm>
          <a:prstGeom prst="line">
            <a:avLst/>
          </a:prstGeom>
          <a:noFill/>
          <a:ln w="22225">
            <a:solidFill>
              <a:srgbClr val="6FA35B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3566160" y="2743200"/>
            <a:ext cx="2011680" cy="365760"/>
          </a:xfrm>
          <a:prstGeom prst="roundRect">
            <a:avLst>
              <a:gd name="adj" fmla="val 37500"/>
            </a:avLst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356616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3A"/>
                </a:solidFill>
              </a:rPr>
              <a:t>REST API (JSON over HTTP)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6153912" y="2743200"/>
            <a:ext cx="1280160" cy="365760"/>
          </a:xfrm>
          <a:prstGeom prst="roundRect">
            <a:avLst>
              <a:gd name="adj" fmla="val 37500"/>
            </a:avLst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153912" y="2743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3A"/>
                </a:solidFill>
              </a:rPr>
              <a:t>SQL queries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3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5D3A"/>
                </a:solidFill>
              </a:rPr>
              <a:t>Database Design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1920240" y="1417320"/>
            <a:ext cx="365760" cy="0"/>
          </a:xfrm>
          <a:prstGeom prst="line">
            <a:avLst/>
          </a:prstGeom>
          <a:noFill/>
          <a:ln w="19050">
            <a:solidFill>
              <a:srgbClr val="6FA35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063240" y="1645920"/>
            <a:ext cx="0" cy="502920"/>
          </a:xfrm>
          <a:prstGeom prst="line">
            <a:avLst/>
          </a:prstGeom>
          <a:noFill/>
          <a:ln w="19050">
            <a:solidFill>
              <a:srgbClr val="6FA35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920240" y="2377440"/>
            <a:ext cx="365760" cy="0"/>
          </a:xfrm>
          <a:prstGeom prst="line">
            <a:avLst/>
          </a:prstGeom>
          <a:noFill/>
          <a:ln w="19050">
            <a:solidFill>
              <a:srgbClr val="6FA35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0" y="2377440"/>
            <a:ext cx="365760" cy="0"/>
          </a:xfrm>
          <a:prstGeom prst="line">
            <a:avLst/>
          </a:prstGeom>
          <a:noFill/>
          <a:ln w="19050">
            <a:solidFill>
              <a:srgbClr val="6FA35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063240" y="2606040"/>
            <a:ext cx="0" cy="502920"/>
          </a:xfrm>
          <a:prstGeom prst="line">
            <a:avLst/>
          </a:prstGeom>
          <a:noFill/>
          <a:ln w="19050">
            <a:solidFill>
              <a:srgbClr val="6FA35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0" y="3337560"/>
            <a:ext cx="365760" cy="0"/>
          </a:xfrm>
          <a:prstGeom prst="line">
            <a:avLst/>
          </a:prstGeom>
          <a:noFill/>
          <a:ln w="19050">
            <a:solidFill>
              <a:srgbClr val="6FA35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83480" y="3566160"/>
            <a:ext cx="0" cy="502920"/>
          </a:xfrm>
          <a:prstGeom prst="line">
            <a:avLst/>
          </a:prstGeom>
          <a:noFill/>
          <a:ln w="19050">
            <a:solidFill>
              <a:srgbClr val="6FA35B"/>
            </a:solidFill>
            <a:prstDash val="solid"/>
          </a:ln>
        </p:spPr>
      </p:sp>
      <p:sp>
        <p:nvSpPr>
          <p:cNvPr id="11" name="SKILL"/>
          <p:cNvSpPr/>
          <p:nvPr/>
        </p:nvSpPr>
        <p:spPr>
          <a:xfrm>
            <a:off x="365760" y="11887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6FA35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76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3A"/>
                </a:solidFill>
              </a:rPr>
              <a:t>SKILL</a:t>
            </a:r>
            <a:endParaRPr lang="en-US" sz="1200" dirty="0"/>
          </a:p>
        </p:txBody>
      </p:sp>
      <p:sp>
        <p:nvSpPr>
          <p:cNvPr id="13" name="USER_SKILL"/>
          <p:cNvSpPr/>
          <p:nvPr/>
        </p:nvSpPr>
        <p:spPr>
          <a:xfrm>
            <a:off x="2286000" y="118872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6FA3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28600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3A"/>
                </a:solidFill>
              </a:rPr>
              <a:t>USER_SKILL</a:t>
            </a:r>
            <a:endParaRPr lang="en-US" sz="1200" dirty="0"/>
          </a:p>
        </p:txBody>
      </p:sp>
      <p:sp>
        <p:nvSpPr>
          <p:cNvPr id="15" name="SKILL_CREDIT"/>
          <p:cNvSpPr/>
          <p:nvPr/>
        </p:nvSpPr>
        <p:spPr>
          <a:xfrm>
            <a:off x="365760" y="21488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6FA35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576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3A"/>
                </a:solidFill>
              </a:rPr>
              <a:t>SKILL_CREDIT</a:t>
            </a:r>
            <a:endParaRPr lang="en-US" sz="1200" dirty="0"/>
          </a:p>
        </p:txBody>
      </p:sp>
      <p:sp>
        <p:nvSpPr>
          <p:cNvPr id="17" name="USER"/>
          <p:cNvSpPr/>
          <p:nvPr/>
        </p:nvSpPr>
        <p:spPr>
          <a:xfrm>
            <a:off x="2286000" y="21488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5D3A"/>
          </a:solidFill>
          <a:ln w="15875">
            <a:solidFill>
              <a:srgbClr val="6FA35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28600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</a:t>
            </a:r>
            <a:endParaRPr lang="en-US" sz="1200" dirty="0"/>
          </a:p>
        </p:txBody>
      </p:sp>
      <p:sp>
        <p:nvSpPr>
          <p:cNvPr id="19" name="AVAILABILITY"/>
          <p:cNvSpPr/>
          <p:nvPr/>
        </p:nvSpPr>
        <p:spPr>
          <a:xfrm>
            <a:off x="4206240" y="214884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6FA35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06240" y="2148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3A"/>
                </a:solidFill>
              </a:rPr>
              <a:t>AVAILABILITY</a:t>
            </a:r>
            <a:endParaRPr lang="en-US" sz="1200" dirty="0"/>
          </a:p>
        </p:txBody>
      </p:sp>
      <p:sp>
        <p:nvSpPr>
          <p:cNvPr id="21" name="SWAP_REQUEST"/>
          <p:cNvSpPr/>
          <p:nvPr/>
        </p:nvSpPr>
        <p:spPr>
          <a:xfrm>
            <a:off x="2286000" y="31089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6FA35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28600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3A"/>
                </a:solidFill>
              </a:rPr>
              <a:t>SWAP_REQUEST</a:t>
            </a:r>
            <a:endParaRPr lang="en-US" sz="1200" dirty="0"/>
          </a:p>
        </p:txBody>
      </p:sp>
      <p:sp>
        <p:nvSpPr>
          <p:cNvPr id="23" name="SESSION"/>
          <p:cNvSpPr/>
          <p:nvPr/>
        </p:nvSpPr>
        <p:spPr>
          <a:xfrm>
            <a:off x="4206240" y="31089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6FA35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206240" y="3108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3A"/>
                </a:solidFill>
              </a:rPr>
              <a:t>SESSION</a:t>
            </a:r>
            <a:endParaRPr lang="en-US" sz="1200" dirty="0"/>
          </a:p>
        </p:txBody>
      </p:sp>
      <p:sp>
        <p:nvSpPr>
          <p:cNvPr id="25" name="RATING"/>
          <p:cNvSpPr/>
          <p:nvPr/>
        </p:nvSpPr>
        <p:spPr>
          <a:xfrm>
            <a:off x="4206240" y="406908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6FA35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206240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5D3A"/>
                </a:solidFill>
              </a:rPr>
              <a:t>RATING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309360" y="914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735F"/>
                </a:solidFill>
              </a:rPr>
              <a:t>DBS concepts used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309360" y="12344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pic>
        <p:nvPicPr>
          <p:cNvPr id="29" name="Image 0" descr="FaK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44168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81228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D3A"/>
                </a:solidFill>
              </a:rPr>
              <a:t>Primary Keys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6309360" y="178308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pic>
        <p:nvPicPr>
          <p:cNvPr id="32" name="Image 1" descr="FaLin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892808"/>
            <a:ext cx="237744" cy="237744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812280" y="1783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D3A"/>
                </a:solidFill>
              </a:rPr>
              <a:t>Foreign Keys</a:t>
            </a:r>
            <a:endParaRPr lang="en-US" sz="1300" dirty="0"/>
          </a:p>
        </p:txBody>
      </p:sp>
      <p:sp>
        <p:nvSpPr>
          <p:cNvPr id="34" name="card"/>
          <p:cNvSpPr/>
          <p:nvPr/>
        </p:nvSpPr>
        <p:spPr>
          <a:xfrm>
            <a:off x="6309360" y="233172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pic>
        <p:nvPicPr>
          <p:cNvPr id="35" name="Image 2" descr="FaLo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441448"/>
            <a:ext cx="237744" cy="23774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6812280" y="2331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D3A"/>
                </a:solidFill>
              </a:rPr>
              <a:t>Constraints</a:t>
            </a:r>
            <a:endParaRPr lang="en-US" sz="1300" dirty="0"/>
          </a:p>
        </p:txBody>
      </p:sp>
      <p:sp>
        <p:nvSpPr>
          <p:cNvPr id="37" name="card"/>
          <p:cNvSpPr/>
          <p:nvPr/>
        </p:nvSpPr>
        <p:spPr>
          <a:xfrm>
            <a:off x="6309360" y="288036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pic>
        <p:nvPicPr>
          <p:cNvPr id="38" name="Image 3" descr="FaSearc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990088"/>
            <a:ext cx="237744" cy="237744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6812280" y="2880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D3A"/>
                </a:solidFill>
              </a:rPr>
              <a:t>Queries</a:t>
            </a:r>
            <a:endParaRPr lang="en-US" sz="1300" dirty="0"/>
          </a:p>
        </p:txBody>
      </p:sp>
      <p:sp>
        <p:nvSpPr>
          <p:cNvPr id="40" name="card"/>
          <p:cNvSpPr/>
          <p:nvPr/>
        </p:nvSpPr>
        <p:spPr>
          <a:xfrm>
            <a:off x="6309360" y="342900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pic>
        <p:nvPicPr>
          <p:cNvPr id="41" name="Image 4" descr="FaSyncAl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538728"/>
            <a:ext cx="237744" cy="23774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68122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D3A"/>
                </a:solidFill>
              </a:rPr>
              <a:t>Transactions</a:t>
            </a:r>
            <a:endParaRPr lang="en-US" sz="1300" dirty="0"/>
          </a:p>
        </p:txBody>
      </p:sp>
      <p:sp>
        <p:nvSpPr>
          <p:cNvPr id="43" name="card"/>
          <p:cNvSpPr/>
          <p:nvPr/>
        </p:nvSpPr>
        <p:spPr>
          <a:xfrm>
            <a:off x="6309360" y="39776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pic>
        <p:nvPicPr>
          <p:cNvPr id="44" name="Image 5" descr="FaDatabas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4087368"/>
            <a:ext cx="237744" cy="237744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812280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D3A"/>
                </a:solidFill>
              </a:rPr>
              <a:t>Data Management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3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5D3A"/>
                </a:solidFill>
              </a:rPr>
              <a:t>Main Features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457200" y="1143000"/>
            <a:ext cx="521208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1234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D3A"/>
                </a:solidFill>
              </a:rPr>
              <a:t>Current Features</a:t>
            </a:r>
            <a:endParaRPr lang="en-US" sz="1600" dirty="0"/>
          </a:p>
        </p:txBody>
      </p:sp>
      <p:pic>
        <p:nvPicPr>
          <p:cNvPr id="6" name="Image 0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33272" y="1737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Registration &amp; Login</a:t>
            </a:r>
            <a:endParaRPr lang="en-US" sz="1400" dirty="0"/>
          </a:p>
        </p:txBody>
      </p:sp>
      <p:pic>
        <p:nvPicPr>
          <p:cNvPr id="8" name="Image 1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59152"/>
            <a:ext cx="228600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33272" y="22677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Student Profile</a:t>
            </a:r>
            <a:endParaRPr lang="en-US" sz="1400" dirty="0"/>
          </a:p>
        </p:txBody>
      </p:sp>
      <p:pic>
        <p:nvPicPr>
          <p:cNvPr id="10" name="Image 2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8950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33272" y="27980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Skills to Teach</a:t>
            </a:r>
            <a:endParaRPr lang="en-US" sz="1400" dirty="0"/>
          </a:p>
        </p:txBody>
      </p:sp>
      <p:pic>
        <p:nvPicPr>
          <p:cNvPr id="12" name="Image 3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1985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033272" y="332841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Skills to Learn</a:t>
            </a:r>
            <a:endParaRPr lang="en-US" sz="1400" dirty="0"/>
          </a:p>
        </p:txBody>
      </p:sp>
      <p:pic>
        <p:nvPicPr>
          <p:cNvPr id="14" name="Image 4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50208"/>
            <a:ext cx="228600" cy="2286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033272" y="38587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Availability</a:t>
            </a:r>
            <a:endParaRPr lang="en-US" sz="1400" dirty="0"/>
          </a:p>
        </p:txBody>
      </p:sp>
      <p:pic>
        <p:nvPicPr>
          <p:cNvPr id="16" name="Image 5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828800"/>
            <a:ext cx="228600" cy="22860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3593592" y="17373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Explore Skills</a:t>
            </a:r>
            <a:endParaRPr lang="en-US" sz="1400" dirty="0"/>
          </a:p>
        </p:txBody>
      </p:sp>
      <p:pic>
        <p:nvPicPr>
          <p:cNvPr id="18" name="Image 6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359152"/>
            <a:ext cx="228600" cy="22860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3593592" y="22677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Match Suggestions</a:t>
            </a:r>
            <a:endParaRPr lang="en-US" sz="1400" dirty="0"/>
          </a:p>
        </p:txBody>
      </p:sp>
      <p:pic>
        <p:nvPicPr>
          <p:cNvPr id="20" name="Image 7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2889504"/>
            <a:ext cx="228600" cy="22860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3593592" y="279806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Match Percentage</a:t>
            </a:r>
            <a:endParaRPr lang="en-US" sz="1400" dirty="0"/>
          </a:p>
        </p:txBody>
      </p:sp>
      <p:pic>
        <p:nvPicPr>
          <p:cNvPr id="22" name="Image 8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419856"/>
            <a:ext cx="228600" cy="22860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3593592" y="332841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Swap Requests</a:t>
            </a:r>
            <a:endParaRPr lang="en-US" sz="1400" dirty="0"/>
          </a:p>
        </p:txBody>
      </p:sp>
      <p:pic>
        <p:nvPicPr>
          <p:cNvPr id="24" name="Image 9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3950208"/>
            <a:ext cx="228600" cy="22860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3593592" y="38587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3A2B"/>
                </a:solidFill>
              </a:rPr>
              <a:t>Dashboard</a:t>
            </a:r>
            <a:endParaRPr lang="en-US" sz="1400" dirty="0"/>
          </a:p>
        </p:txBody>
      </p:sp>
      <p:sp>
        <p:nvSpPr>
          <p:cNvPr id="26" name="Shape 13"/>
          <p:cNvSpPr/>
          <p:nvPr/>
        </p:nvSpPr>
        <p:spPr>
          <a:xfrm>
            <a:off x="5943600" y="1143000"/>
            <a:ext cx="2743200" cy="3429000"/>
          </a:xfrm>
          <a:prstGeom prst="roundRect">
            <a:avLst>
              <a:gd name="adj" fmla="val 2667"/>
            </a:avLst>
          </a:prstGeom>
          <a:solidFill>
            <a:srgbClr val="EEF5E3"/>
          </a:solidFill>
          <a:ln w="15875">
            <a:solidFill>
              <a:srgbClr val="6FA35B"/>
            </a:solidFill>
            <a:prstDash val="dash"/>
          </a:ln>
        </p:spPr>
      </p:sp>
      <p:sp>
        <p:nvSpPr>
          <p:cNvPr id="27" name="Text 14"/>
          <p:cNvSpPr txBox="1"/>
          <p:nvPr/>
        </p:nvSpPr>
        <p:spPr>
          <a:xfrm>
            <a:off x="6172200" y="1234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735F"/>
                </a:solidFill>
              </a:rPr>
              <a:t>Planned Features</a:t>
            </a:r>
            <a:endParaRPr lang="en-US" sz="1600" dirty="0"/>
          </a:p>
        </p:txBody>
      </p:sp>
      <p:pic>
        <p:nvPicPr>
          <p:cNvPr id="28" name="Image 10" descr="FaComme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810512"/>
            <a:ext cx="256032" cy="256032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6537960" y="1737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35F"/>
                </a:solidFill>
              </a:rPr>
              <a:t>Chat</a:t>
            </a:r>
            <a:endParaRPr lang="en-US" sz="1400" dirty="0"/>
          </a:p>
        </p:txBody>
      </p:sp>
      <p:pic>
        <p:nvPicPr>
          <p:cNvPr id="30" name="Image 11" descr="FaBe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267712"/>
            <a:ext cx="256032" cy="256032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653796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35F"/>
                </a:solidFill>
              </a:rPr>
              <a:t>Notifications</a:t>
            </a:r>
            <a:endParaRPr lang="en-US" sz="1400" dirty="0"/>
          </a:p>
        </p:txBody>
      </p:sp>
      <p:pic>
        <p:nvPicPr>
          <p:cNvPr id="32" name="Image 12" descr="FaCalendarA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724912"/>
            <a:ext cx="256032" cy="256032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6537960" y="2651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35F"/>
                </a:solidFill>
              </a:rPr>
              <a:t>Session Calendar</a:t>
            </a:r>
            <a:endParaRPr lang="en-US" sz="1400" dirty="0"/>
          </a:p>
        </p:txBody>
      </p:sp>
      <p:pic>
        <p:nvPicPr>
          <p:cNvPr id="34" name="Image 13" descr="FaSta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182112"/>
            <a:ext cx="256032" cy="256032"/>
          </a:xfrm>
          <a:prstGeom prst="rect">
            <a:avLst/>
          </a:prstGeom>
        </p:spPr>
      </p:pic>
      <p:sp>
        <p:nvSpPr>
          <p:cNvPr id="35" name="Text 18"/>
          <p:cNvSpPr txBox="1"/>
          <p:nvPr/>
        </p:nvSpPr>
        <p:spPr>
          <a:xfrm>
            <a:off x="653796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35F"/>
                </a:solidFill>
              </a:rPr>
              <a:t>Ratings</a:t>
            </a:r>
            <a:endParaRPr lang="en-US" sz="1400" dirty="0"/>
          </a:p>
        </p:txBody>
      </p:sp>
      <p:pic>
        <p:nvPicPr>
          <p:cNvPr id="36" name="Image 14" descr="FaCoin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639312"/>
            <a:ext cx="256032" cy="256032"/>
          </a:xfrm>
          <a:prstGeom prst="rect">
            <a:avLst/>
          </a:prstGeom>
        </p:spPr>
      </p:pic>
      <p:sp>
        <p:nvSpPr>
          <p:cNvPr id="37" name="Text 19"/>
          <p:cNvSpPr txBox="1"/>
          <p:nvPr/>
        </p:nvSpPr>
        <p:spPr>
          <a:xfrm>
            <a:off x="6537960" y="3566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35F"/>
                </a:solidFill>
              </a:rPr>
              <a:t>Skill Credits</a:t>
            </a:r>
            <a:endParaRPr lang="en-US" sz="1400" dirty="0"/>
          </a:p>
        </p:txBody>
      </p:sp>
      <p:pic>
        <p:nvPicPr>
          <p:cNvPr id="38" name="Image 15" descr="FaCertificat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4096512"/>
            <a:ext cx="256032" cy="256032"/>
          </a:xfrm>
          <a:prstGeom prst="rect">
            <a:avLst/>
          </a:prstGeom>
        </p:spPr>
      </p:pic>
      <p:sp>
        <p:nvSpPr>
          <p:cNvPr id="39" name="Text 20"/>
          <p:cNvSpPr txBox="1"/>
          <p:nvPr/>
        </p:nvSpPr>
        <p:spPr>
          <a:xfrm>
            <a:off x="6537960" y="4023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735F"/>
                </a:solidFill>
              </a:rPr>
              <a:t>Skill Verification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3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5D3A"/>
                </a:solidFill>
              </a:rPr>
              <a:t>Software Requirements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457200" y="123444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97280" y="137160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6" name="Image 0" descr="FaLaptop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954" y="150327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2011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35F"/>
                </a:solidFill>
              </a:rPr>
              <a:t>Frontend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3A"/>
                </a:solidFill>
              </a:rPr>
              <a:t>HTML, CSS, JavaScript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2587752" y="123444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27832" y="137160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1" name="Image 1" descr="Fa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506" y="150327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587752" y="2011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35F"/>
                </a:solidFill>
              </a:rPr>
              <a:t>Backend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2633472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3A"/>
                </a:solidFill>
              </a:rPr>
              <a:t>Node.js, Express.js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4718304" y="123444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358384" y="137160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16" name="Image 2" descr="Fa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058" y="150327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718304" y="2011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35F"/>
                </a:solidFill>
              </a:rPr>
              <a:t>Database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4764024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3A"/>
                </a:solidFill>
              </a:rPr>
              <a:t>MySQL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6848856" y="123444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7488936" y="137160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21" name="Image 3" descr="FaTab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610" y="150327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848856" y="2011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35F"/>
                </a:solidFill>
              </a:rPr>
              <a:t>Database Tool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6894576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3A"/>
                </a:solidFill>
              </a:rPr>
              <a:t>MySQL Workbench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457200" y="292608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1097280" y="306324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26" name="Image 4" descr="FaCod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954" y="319491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57200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35F"/>
                </a:solidFill>
              </a:rPr>
              <a:t>Code Editor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50292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3A"/>
                </a:solidFill>
              </a:rPr>
              <a:t>Visual Studio Code</a:t>
            </a:r>
            <a:endParaRPr lang="en-US" sz="1300" dirty="0"/>
          </a:p>
        </p:txBody>
      </p:sp>
      <p:sp>
        <p:nvSpPr>
          <p:cNvPr id="29" name="card"/>
          <p:cNvSpPr/>
          <p:nvPr/>
        </p:nvSpPr>
        <p:spPr>
          <a:xfrm>
            <a:off x="2587752" y="292608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3227832" y="306324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31" name="Image 5" descr="FaPaperPlan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9506" y="3194914"/>
            <a:ext cx="285293" cy="285293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587752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35F"/>
                </a:solidFill>
              </a:rPr>
              <a:t>API Testing</a:t>
            </a:r>
            <a:endParaRPr lang="en-US" sz="1100" dirty="0"/>
          </a:p>
        </p:txBody>
      </p:sp>
      <p:sp>
        <p:nvSpPr>
          <p:cNvPr id="33" name="Text 24"/>
          <p:cNvSpPr txBox="1"/>
          <p:nvPr/>
        </p:nvSpPr>
        <p:spPr>
          <a:xfrm>
            <a:off x="2633472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3A"/>
                </a:solidFill>
              </a:rPr>
              <a:t>Postman</a:t>
            </a:r>
            <a:endParaRPr lang="en-US" sz="1300" dirty="0"/>
          </a:p>
        </p:txBody>
      </p:sp>
      <p:sp>
        <p:nvSpPr>
          <p:cNvPr id="34" name="card"/>
          <p:cNvSpPr/>
          <p:nvPr/>
        </p:nvSpPr>
        <p:spPr>
          <a:xfrm>
            <a:off x="4718304" y="292608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5358384" y="306324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36" name="Image 6" descr="FaCodeBranch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0058" y="3194914"/>
            <a:ext cx="285293" cy="285293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4718304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35F"/>
                </a:solidFill>
              </a:rPr>
              <a:t>Version Control</a:t>
            </a:r>
            <a:endParaRPr lang="en-US" sz="1100" dirty="0"/>
          </a:p>
        </p:txBody>
      </p:sp>
      <p:sp>
        <p:nvSpPr>
          <p:cNvPr id="38" name="Text 28"/>
          <p:cNvSpPr txBox="1"/>
          <p:nvPr/>
        </p:nvSpPr>
        <p:spPr>
          <a:xfrm>
            <a:off x="4764024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3A"/>
                </a:solidFill>
              </a:rPr>
              <a:t>Git &amp; GitHub</a:t>
            </a:r>
            <a:endParaRPr lang="en-US" sz="1300" dirty="0"/>
          </a:p>
        </p:txBody>
      </p:sp>
      <p:sp>
        <p:nvSpPr>
          <p:cNvPr id="39" name="card"/>
          <p:cNvSpPr/>
          <p:nvPr/>
        </p:nvSpPr>
        <p:spPr>
          <a:xfrm>
            <a:off x="6848856" y="292608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7488936" y="3063240"/>
            <a:ext cx="548640" cy="548640"/>
          </a:xfrm>
          <a:prstGeom prst="ellipse">
            <a:avLst/>
          </a:prstGeom>
          <a:solidFill>
            <a:srgbClr val="DCEBC9"/>
          </a:solidFill>
          <a:ln w="12700">
            <a:solidFill>
              <a:srgbClr val="DCEBC9"/>
            </a:solidFill>
            <a:prstDash val="solid"/>
          </a:ln>
        </p:spPr>
      </p:sp>
      <p:pic>
        <p:nvPicPr>
          <p:cNvPr id="41" name="Image 7" descr="FaGlob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610" y="3194914"/>
            <a:ext cx="285293" cy="285293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6848856" y="3703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F735F"/>
                </a:solidFill>
              </a:rPr>
              <a:t>Browser</a:t>
            </a:r>
            <a:endParaRPr lang="en-US" sz="1100" dirty="0"/>
          </a:p>
        </p:txBody>
      </p:sp>
      <p:sp>
        <p:nvSpPr>
          <p:cNvPr id="43" name="Text 32"/>
          <p:cNvSpPr txBox="1"/>
          <p:nvPr/>
        </p:nvSpPr>
        <p:spPr>
          <a:xfrm>
            <a:off x="6894576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D3A"/>
                </a:solidFill>
              </a:rPr>
              <a:t>Chrome / Edge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3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5D3A"/>
                </a:solidFill>
              </a:rPr>
              <a:t>Conclusion &amp; Future Scope</a:t>
            </a:r>
            <a:endParaRPr lang="en-US" sz="2800" dirty="0"/>
          </a:p>
        </p:txBody>
      </p:sp>
      <p:sp>
        <p:nvSpPr>
          <p:cNvPr id="4" name="card"/>
          <p:cNvSpPr/>
          <p:nvPr/>
        </p:nvSpPr>
        <p:spPr>
          <a:xfrm>
            <a:off x="45720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858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D3A"/>
                </a:solidFill>
              </a:rPr>
              <a:t>Conclusion</a:t>
            </a:r>
            <a:endParaRPr lang="en-US" sz="1600" dirty="0"/>
          </a:p>
        </p:txBody>
      </p:sp>
      <p:pic>
        <p:nvPicPr>
          <p:cNvPr id="6" name="Image 0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55648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1560" y="1645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2B"/>
                </a:solidFill>
              </a:rPr>
              <a:t>Makes peer-to-peer learning easier</a:t>
            </a:r>
            <a:endParaRPr lang="en-US" sz="1300" dirty="0"/>
          </a:p>
        </p:txBody>
      </p:sp>
      <p:pic>
        <p:nvPicPr>
          <p:cNvPr id="8" name="Image 1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22576"/>
            <a:ext cx="228600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51560" y="221284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2B"/>
                </a:solidFill>
              </a:rPr>
              <a:t>Helps students find compatible partners</a:t>
            </a:r>
            <a:endParaRPr lang="en-US" sz="1300" dirty="0"/>
          </a:p>
        </p:txBody>
      </p:sp>
      <p:pic>
        <p:nvPicPr>
          <p:cNvPr id="10" name="Image 2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8950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51560" y="27797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2B"/>
                </a:solidFill>
              </a:rPr>
              <a:t>Organizes skills, requests and sessions</a:t>
            </a:r>
            <a:endParaRPr lang="en-US" sz="1300" dirty="0"/>
          </a:p>
        </p:txBody>
      </p:sp>
      <p:pic>
        <p:nvPicPr>
          <p:cNvPr id="12" name="Image 3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56432"/>
            <a:ext cx="228600" cy="2286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051560" y="33467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2B"/>
                </a:solidFill>
              </a:rPr>
              <a:t>Affordable, collaborative learning</a:t>
            </a:r>
            <a:endParaRPr lang="en-US" sz="1300" dirty="0"/>
          </a:p>
        </p:txBody>
      </p:sp>
      <p:pic>
        <p:nvPicPr>
          <p:cNvPr id="14" name="Image 4" descr="FaCheckCirc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23360"/>
            <a:ext cx="228600" cy="2286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051560" y="39136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2B"/>
                </a:solidFill>
              </a:rPr>
              <a:t>Demonstrates DBS and DBE concepts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EEF5E3"/>
          </a:solidFill>
          <a:ln w="12700">
            <a:solidFill>
              <a:srgbClr val="DCE9CC"/>
            </a:solidFill>
            <a:prstDash val="solid"/>
          </a:ln>
          <a:effectLst>
            <a:outerShdw blurRad="76200" dist="25400" dir="5400000" algn="bl" rotWithShape="0">
              <a:srgbClr val="9DB88A">
                <a:alpha val="25000"/>
              </a:srgbClr>
            </a:outerShdw>
          </a:effectLst>
        </p:spPr>
      </p:sp>
      <p:sp>
        <p:nvSpPr>
          <p:cNvPr id="17" name="Text 9"/>
          <p:cNvSpPr txBox="1"/>
          <p:nvPr/>
        </p:nvSpPr>
        <p:spPr>
          <a:xfrm>
            <a:off x="489204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D3A"/>
                </a:solidFill>
              </a:rPr>
              <a:t>Future Scope</a:t>
            </a:r>
            <a:endParaRPr lang="en-US" sz="1600" dirty="0"/>
          </a:p>
        </p:txBody>
      </p:sp>
      <p:pic>
        <p:nvPicPr>
          <p:cNvPr id="18" name="Image 5" descr="FaRob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37360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5303520" y="164592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2B"/>
                </a:solidFill>
              </a:rPr>
              <a:t>AI-based skill matching</a:t>
            </a:r>
            <a:endParaRPr lang="en-US" sz="1300" dirty="0"/>
          </a:p>
        </p:txBody>
      </p:sp>
      <p:pic>
        <p:nvPicPr>
          <p:cNvPr id="20" name="Image 6" descr="FaMobileA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212848"/>
            <a:ext cx="256032" cy="256032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5303520" y="21214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2B"/>
                </a:solidFill>
              </a:rPr>
              <a:t>Mobile application</a:t>
            </a:r>
            <a:endParaRPr lang="en-US" sz="1300" dirty="0"/>
          </a:p>
        </p:txBody>
      </p:sp>
      <p:pic>
        <p:nvPicPr>
          <p:cNvPr id="22" name="Image 7" descr="FaVide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688336"/>
            <a:ext cx="256032" cy="256032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5303520" y="259689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2B"/>
                </a:solidFill>
              </a:rPr>
              <a:t>Chat and video learning</a:t>
            </a:r>
            <a:endParaRPr lang="en-US" sz="1300" dirty="0"/>
          </a:p>
        </p:txBody>
      </p:sp>
      <p:pic>
        <p:nvPicPr>
          <p:cNvPr id="24" name="Image 8" descr="FaCertificat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163824"/>
            <a:ext cx="256032" cy="256032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5303520" y="307238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2B"/>
                </a:solidFill>
              </a:rPr>
              <a:t>Skill verification</a:t>
            </a:r>
            <a:endParaRPr lang="en-US" sz="1300" dirty="0"/>
          </a:p>
        </p:txBody>
      </p:sp>
      <p:pic>
        <p:nvPicPr>
          <p:cNvPr id="26" name="Image 9" descr="FaTrophy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639312"/>
            <a:ext cx="256032" cy="256032"/>
          </a:xfrm>
          <a:prstGeom prst="rect">
            <a:avLst/>
          </a:prstGeom>
        </p:spPr>
      </p:pic>
      <p:sp>
        <p:nvSpPr>
          <p:cNvPr id="27" name="Text 14"/>
          <p:cNvSpPr txBox="1"/>
          <p:nvPr/>
        </p:nvSpPr>
        <p:spPr>
          <a:xfrm>
            <a:off x="5303520" y="35478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2B"/>
                </a:solidFill>
              </a:rPr>
              <a:t>Ratings, badges, leaderboards</a:t>
            </a:r>
            <a:endParaRPr lang="en-US" sz="1300" dirty="0"/>
          </a:p>
        </p:txBody>
      </p:sp>
      <p:pic>
        <p:nvPicPr>
          <p:cNvPr id="28" name="Image 10" descr="FaUniversity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4114800"/>
            <a:ext cx="256032" cy="256032"/>
          </a:xfrm>
          <a:prstGeom prst="rect">
            <a:avLst/>
          </a:prstGeom>
        </p:spPr>
      </p:pic>
      <p:sp>
        <p:nvSpPr>
          <p:cNvPr id="29" name="Text 15"/>
          <p:cNvSpPr txBox="1"/>
          <p:nvPr/>
        </p:nvSpPr>
        <p:spPr>
          <a:xfrm>
            <a:off x="5303520" y="40233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3A2B"/>
                </a:solidFill>
              </a:rPr>
              <a:t>Expansion to more colleges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35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illSwap Pista">
  <a:themeElements>
    <a:clrScheme name="SkillSwap Pista">
      <a:dk1>
        <a:srgbClr val="2B3A2B"/>
      </a:dk1>
      <a:lt1>
        <a:srgbClr val="FFFFFF"/>
      </a:lt1>
      <a:dk2>
        <a:srgbClr val="2F5D3A"/>
      </a:dk2>
      <a:lt2>
        <a:srgbClr val="F7FBF2"/>
      </a:lt2>
      <a:accent1>
        <a:srgbClr val="6FA35B"/>
      </a:accent1>
      <a:accent2>
        <a:srgbClr val="2F5D3A"/>
      </a:accent2>
      <a:accent3>
        <a:srgbClr val="A8CF8E"/>
      </a:accent3>
      <a:accent4>
        <a:srgbClr val="DCEBC9"/>
      </a:accent4>
      <a:accent5>
        <a:srgbClr val="8DB580"/>
      </a:accent5>
      <a:accent6>
        <a:srgbClr val="5E8C4A"/>
      </a:accent6>
      <a:hlink>
        <a:srgbClr val="2F5D3A"/>
      </a:hlink>
      <a:folHlink>
        <a:srgbClr val="5F735F"/>
      </a:folHlink>
    </a:clrScheme>
    <a:fontScheme name="SkillSwap Pis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671</Words>
  <Application>Microsoft Office PowerPoint</Application>
  <PresentationFormat>On-screen Show (16:9)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SkillSwap Pista</vt:lpstr>
      <vt:lpstr>PowerPoint Presentation</vt:lpstr>
      <vt:lpstr>Introduction</vt:lpstr>
      <vt:lpstr>Problem Statement</vt:lpstr>
      <vt:lpstr>Existing System</vt:lpstr>
      <vt:lpstr>Proposed Solution</vt:lpstr>
      <vt:lpstr>Objectives</vt:lpstr>
      <vt:lpstr>Modules</vt:lpstr>
      <vt:lpstr>System Architecture</vt:lpstr>
      <vt:lpstr>Database Design</vt:lpstr>
      <vt:lpstr>Main Features</vt:lpstr>
      <vt:lpstr>Software Requirements</vt:lpstr>
      <vt:lpstr>Conclusion &amp; Future Scope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SkillSwap – Student Skill Swapping System</dc:title>
  <dc:subject>PptxGenJS Presentation</dc:subject>
  <dc:creator>PptxGenJS</dc:creator>
  <cp:lastModifiedBy>Chandra Shekar Reddy Thippireddy</cp:lastModifiedBy>
  <cp:revision>2</cp:revision>
  <dcterms:created xsi:type="dcterms:W3CDTF">2026-10-03T03:16:08Z</dcterms:created>
  <dcterms:modified xsi:type="dcterms:W3CDTF">2026-10-03T03:31:47Z</dcterms:modified>
</cp:coreProperties>
</file>